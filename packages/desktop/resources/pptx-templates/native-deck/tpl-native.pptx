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图表标题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系列一</c:v>
                </c:pt>
              </c:strCache>
            </c:strRef>
          </c:tx>
          <c:spPr>
            <a:solidFill>
              <a:srgbClr val="1E3A5F"/>
            </a:solidFill>
          </c:spPr>
          <c:cat>
            <c:strRef>
              <c:f>Sheet1!$A$2:$A$6</c:f>
              <c:strCache>
                <c:ptCount val="5"/>
                <c:pt idx="0">
                  <c:v>项目一</c:v>
                </c:pt>
                <c:pt idx="1">
                  <c:v>项目二</c:v>
                </c:pt>
                <c:pt idx="2">
                  <c:v>项目三</c:v>
                </c:pt>
                <c:pt idx="3">
                  <c:v>项目四</c:v>
                </c:pt>
                <c:pt idx="4">
                  <c:v>项目五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72</c:v>
                </c:pt>
                <c:pt idx="1">
                  <c:v>86</c:v>
                </c:pt>
                <c:pt idx="2">
                  <c:v>64</c:v>
                </c:pt>
                <c:pt idx="3">
                  <c:v>93</c:v>
                </c:pt>
                <c:pt idx="4">
                  <c:v>78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思源黑体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图表标题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本期</c:v>
                </c:pt>
              </c:strCache>
            </c:strRef>
          </c:tx>
          <c:spPr>
            <a:ln w="25400">
              <a:solidFill>
                <a:srgbClr val="1E3A5F"/>
              </a:solidFill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66</c:v>
                </c:pt>
                <c:pt idx="2">
                  <c:v>61</c:v>
                </c:pt>
                <c:pt idx="3">
                  <c:v>78</c:v>
                </c:pt>
                <c:pt idx="4">
                  <c:v>84</c:v>
                </c:pt>
                <c:pt idx="5">
                  <c:v>92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同期</c:v>
                </c:pt>
              </c:strCache>
            </c:strRef>
          </c:tx>
          <c:spPr>
            <a:ln w="25400">
              <a:solidFill>
                <a:srgbClr val="2E6DA4"/>
              </a:solidFill>
            </a:ln>
          </c:spPr>
          <c:cat>
            <c:strRef>
              <c:f>Sheet1!$A$2:$A$7</c:f>
              <c:strCache>
                <c:ptCount val="6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52</c:v>
                </c:pt>
                <c:pt idx="1">
                  <c:v>55</c:v>
                </c:pt>
                <c:pt idx="2">
                  <c:v>60</c:v>
                </c:pt>
                <c:pt idx="3">
                  <c:v>63</c:v>
                </c:pt>
                <c:pt idx="4">
                  <c:v>68</c:v>
                </c:pt>
                <c:pt idx="5">
                  <c:v>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latin typeface="思源黑体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301752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思源黑体"/>
                <a:ea typeface="思源黑体"/>
              </a:rPr>
              <a:t>荣盈魔方</a:t>
            </a:r>
          </a:p>
          <a:p>
            <a:pPr algn="l"/>
            <a:r>
              <a:rPr sz="1200" b="0">
                <a:solidFill>
                  <a:srgbClr val="B9C4D2"/>
                </a:solidFill>
                <a:latin typeface="思源黑体"/>
                <a:ea typeface="思源黑体"/>
              </a:rPr>
              <a:t>AI U盘 · 产品能力汇报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800600" y="2084831"/>
            <a:ext cx="777240" cy="64008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0" y="2395728"/>
            <a:ext cx="676656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E3A5F"/>
                </a:solidFill>
                <a:latin typeface="思源黑体"/>
                <a:ea typeface="思源黑体"/>
              </a:rPr>
              <a:t>主标题</a:t>
            </a:r>
          </a:p>
          <a:p>
            <a:pPr algn="l"/>
            <a:r>
              <a:rPr sz="2200" b="0">
                <a:solidFill>
                  <a:srgbClr val="2E6DA4"/>
                </a:solidFill>
                <a:latin typeface="思源黑体"/>
                <a:ea typeface="思源黑体"/>
              </a:rPr>
              <a:t>副标题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160520"/>
            <a:ext cx="676656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5349240"/>
            <a:ext cx="67665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8A93A0"/>
                </a:solidFill>
                <a:latin typeface="思源黑体"/>
                <a:ea typeface="思源黑体"/>
              </a:rPr>
              <a:t>落款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5989320"/>
            <a:ext cx="1463040" cy="4572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207008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37943"/>
            <a:ext cx="50292" cy="566928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783080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83080" y="1801368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953512"/>
            <a:ext cx="50292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898648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91693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069079"/>
            <a:ext cx="50292" cy="566928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014215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4032503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5184648"/>
            <a:ext cx="50292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5129784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148072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837943"/>
            <a:ext cx="50292" cy="566928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783080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801368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953512"/>
            <a:ext cx="50292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2898648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16936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4069079"/>
            <a:ext cx="50292" cy="566928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8" y="4014215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032503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184648"/>
            <a:ext cx="50292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6248" y="5129784"/>
            <a:ext cx="8229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D8DEE7"/>
                </a:solidFill>
                <a:latin typeface="思源黑体"/>
                <a:ea typeface="思源黑体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5148072"/>
            <a:ext cx="42062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章节名称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91440" cy="6858000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347472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7200" b="1">
                <a:solidFill>
                  <a:srgbClr val="3D5E86"/>
                </a:solidFill>
                <a:latin typeface="思源黑体"/>
                <a:ea typeface="思源黑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0" y="2331720"/>
            <a:ext cx="640080" cy="64008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97880" y="2606040"/>
            <a:ext cx="576072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思源黑体"/>
                <a:ea typeface="思源黑体"/>
              </a:rPr>
              <a:t>章节标题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3794760"/>
            <a:ext cx="5760720" cy="10972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章节说明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172968" cy="38862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172968" cy="1005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75104"/>
            <a:ext cx="14630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3000" b="1">
                <a:solidFill>
                  <a:srgbClr val="D8DEE7"/>
                </a:solidFill>
                <a:latin typeface="思源黑体"/>
                <a:ea typeface="思源黑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26700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卡片标题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27248"/>
            <a:ext cx="2670048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卡片正文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783080"/>
            <a:ext cx="3172968" cy="38862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07992" y="1783080"/>
            <a:ext cx="3172968" cy="100584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975104"/>
            <a:ext cx="14630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3000" b="1">
                <a:solidFill>
                  <a:srgbClr val="D8DEE7"/>
                </a:solidFill>
                <a:latin typeface="思源黑体"/>
                <a:ea typeface="思源黑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2578608"/>
            <a:ext cx="26700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卡片标题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127248"/>
            <a:ext cx="2670048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卡片正文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75904" y="1783080"/>
            <a:ext cx="3172968" cy="388620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75904" y="1783080"/>
            <a:ext cx="3172968" cy="100584"/>
          </a:xfrm>
          <a:prstGeom prst="roundRect">
            <a:avLst>
              <a:gd name="adj" fmla="val 50000"/>
            </a:avLst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1975104"/>
            <a:ext cx="146304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3000" b="1">
                <a:solidFill>
                  <a:srgbClr val="D8DEE7"/>
                </a:solidFill>
                <a:latin typeface="思源黑体"/>
                <a:ea typeface="思源黑体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578608"/>
            <a:ext cx="2670048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卡片标题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3127248"/>
            <a:ext cx="2670048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卡片正文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870448"/>
            <a:ext cx="10908792" cy="566928"/>
          </a:xfrm>
          <a:prstGeom prst="roundRect">
            <a:avLst>
              <a:gd name="adj" fmla="val 16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870448"/>
            <a:ext cx="10424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思源黑体"/>
                <a:ea typeface="思源黑体"/>
              </a:rPr>
              <a:t>底部结论条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88336" cy="3840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9928" y="1828800"/>
            <a:ext cx="548640" cy="100584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29968"/>
            <a:ext cx="1280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D8DEE7"/>
                </a:solidFill>
                <a:latin typeface="思源黑体"/>
                <a:ea typeface="思源黑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578608"/>
            <a:ext cx="224942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卡片标题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127248"/>
            <a:ext cx="2249424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卡片正文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1828800"/>
            <a:ext cx="2688336" cy="3840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2" y="1828800"/>
            <a:ext cx="548640" cy="100584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029968"/>
            <a:ext cx="1280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D8DEE7"/>
                </a:solidFill>
                <a:latin typeface="思源黑体"/>
                <a:ea typeface="思源黑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578608"/>
            <a:ext cx="224942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卡片标题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127248"/>
            <a:ext cx="2249424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卡片正文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1828800"/>
            <a:ext cx="2688336" cy="3840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88936" y="1828800"/>
            <a:ext cx="548640" cy="100584"/>
          </a:xfrm>
          <a:prstGeom prst="roundRect">
            <a:avLst>
              <a:gd name="adj" fmla="val 50000"/>
            </a:avLst>
          </a:prstGeom>
          <a:solidFill>
            <a:srgbClr val="6B8C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029968"/>
            <a:ext cx="1280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D8DEE7"/>
                </a:solidFill>
                <a:latin typeface="思源黑体"/>
                <a:ea typeface="思源黑体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578608"/>
            <a:ext cx="224942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卡片标题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127248"/>
            <a:ext cx="2249424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卡片正文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8592" y="1828800"/>
            <a:ext cx="2688336" cy="38404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378440" y="1828800"/>
            <a:ext cx="548640" cy="100584"/>
          </a:xfrm>
          <a:prstGeom prst="roundRect">
            <a:avLst>
              <a:gd name="adj" fmla="val 50000"/>
            </a:avLst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2029968"/>
            <a:ext cx="1280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D8DEE7"/>
                </a:solidFill>
                <a:latin typeface="思源黑体"/>
                <a:ea typeface="思源黑体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578608"/>
            <a:ext cx="224942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卡片标题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127248"/>
            <a:ext cx="2249424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卡片正文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63240" y="1389888"/>
            <a:ext cx="4315968" cy="42062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63240" y="1389888"/>
            <a:ext cx="431596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思源黑体"/>
                <a:ea typeface="思源黑体"/>
              </a:rPr>
              <a:t>左表头</a:t>
            </a:r>
          </a:p>
        </p:txBody>
      </p:sp>
      <p:sp>
        <p:nvSpPr>
          <p:cNvPr id="6" name="Rectangle 5"/>
          <p:cNvSpPr/>
          <p:nvPr/>
        </p:nvSpPr>
        <p:spPr>
          <a:xfrm>
            <a:off x="7571231" y="1389888"/>
            <a:ext cx="4315968" cy="42062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71231" y="1389888"/>
            <a:ext cx="4315968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思源黑体"/>
                <a:ea typeface="思源黑体"/>
              </a:rPr>
              <a:t>右表头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56816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r"/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956816"/>
            <a:ext cx="4315968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1956816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左侧说明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71231" y="1956816"/>
            <a:ext cx="4315968" cy="658368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1956816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右侧说明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r"/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2743200"/>
            <a:ext cx="4315968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1256" y="2743200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左侧说明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2743200"/>
            <a:ext cx="4315968" cy="658368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2743200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右侧说明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29584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r"/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3529584"/>
            <a:ext cx="4315968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91256" y="3529584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左侧说明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71231" y="3529584"/>
            <a:ext cx="4315968" cy="658368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3529584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右侧说明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15968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r"/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4315968"/>
            <a:ext cx="4315968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91256" y="4315968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左侧说明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71231" y="4315968"/>
            <a:ext cx="4315968" cy="658368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4315968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右侧说明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102352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r"/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5102352"/>
            <a:ext cx="4315968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91256" y="5102352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左侧说明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71231" y="5102352"/>
            <a:ext cx="4315968" cy="658368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5102352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右侧说明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888736"/>
            <a:ext cx="2194560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r"/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5888736"/>
            <a:ext cx="4315968" cy="65836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91256" y="5888736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左侧说明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71231" y="5888736"/>
            <a:ext cx="4315968" cy="658368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5888736"/>
            <a:ext cx="4059935" cy="6583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右侧说明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810512"/>
            <a:ext cx="210312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031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500" b="1">
                <a:solidFill>
                  <a:srgbClr val="1E3A5F"/>
                </a:solidFill>
                <a:latin typeface="思源黑体"/>
                <a:ea typeface="思源黑体"/>
              </a:rPr>
              <a:t>对比维度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783080"/>
            <a:ext cx="2743200" cy="502920"/>
          </a:xfrm>
          <a:prstGeom prst="roundRect">
            <a:avLst>
              <a:gd name="adj" fmla="val 18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1783080"/>
            <a:ext cx="2743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思源黑体"/>
                <a:ea typeface="思源黑体"/>
              </a:rPr>
              <a:t>方案1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88152" y="1783080"/>
            <a:ext cx="2743200" cy="502920"/>
          </a:xfrm>
          <a:prstGeom prst="roundRect">
            <a:avLst>
              <a:gd name="adj" fmla="val 18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8152" y="1783080"/>
            <a:ext cx="2743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思源黑体"/>
                <a:ea typeface="思源黑体"/>
              </a:rPr>
              <a:t>方案2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87384" y="1783080"/>
            <a:ext cx="2743200" cy="502920"/>
          </a:xfrm>
          <a:prstGeom prst="roundRect">
            <a:avLst>
              <a:gd name="adj" fmla="val 18000"/>
            </a:avLst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87384" y="1783080"/>
            <a:ext cx="2743200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思源黑体"/>
                <a:ea typeface="思源黑体"/>
              </a:rPr>
              <a:t>方案3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2487168"/>
            <a:ext cx="210312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2487168"/>
            <a:ext cx="1920240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2487168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16936" y="2487168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88152" y="2487168"/>
            <a:ext cx="2743200" cy="804672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16168" y="2487168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87384" y="2487168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2487168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3419856"/>
            <a:ext cx="210312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419856"/>
            <a:ext cx="1920240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88920" y="3419856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16936" y="3419856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88152" y="3419856"/>
            <a:ext cx="2743200" cy="804672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3419856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87384" y="3419856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3419856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4352544"/>
            <a:ext cx="210312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4352544"/>
            <a:ext cx="1920240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4352544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16936" y="4352544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88152" y="4352544"/>
            <a:ext cx="2743200" cy="804672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16168" y="4352544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87384" y="4352544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15400" y="4352544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" y="5285232"/>
            <a:ext cx="210312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19" y="5285232"/>
            <a:ext cx="1920240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E3A5F"/>
                </a:solidFill>
                <a:latin typeface="思源黑体"/>
                <a:ea typeface="思源黑体"/>
              </a:rPr>
              <a:t>维度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88920" y="5285232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16936" y="5285232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88152" y="5285232"/>
            <a:ext cx="2743200" cy="804672"/>
          </a:xfrm>
          <a:prstGeom prst="rect">
            <a:avLst/>
          </a:prstGeom>
          <a:solidFill>
            <a:srgbClr val="FD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16168" y="5285232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87384" y="5285232"/>
            <a:ext cx="2743200" cy="804672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15400" y="5285232"/>
            <a:ext cx="2487168" cy="8046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单元格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172968" cy="169164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7992" y="1874519"/>
            <a:ext cx="3172968" cy="1691640"/>
          </a:xfrm>
          <a:prstGeom prst="roundRect">
            <a:avLst>
              <a:gd name="adj" fmla="val 5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75904" y="1874519"/>
            <a:ext cx="3172968" cy="1691640"/>
          </a:xfrm>
          <a:prstGeom prst="roundRect">
            <a:avLst>
              <a:gd name="adj" fmla="val 5000"/>
            </a:avLst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4023359" y="2514600"/>
            <a:ext cx="274320" cy="411480"/>
          </a:xfrm>
          <a:prstGeom prst="triangle">
            <a:avLst/>
          </a:prstGeom>
          <a:solidFill>
            <a:srgbClr val="8A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7891272" y="2514600"/>
            <a:ext cx="274320" cy="411480"/>
          </a:xfrm>
          <a:prstGeom prst="triangle">
            <a:avLst/>
          </a:prstGeom>
          <a:solidFill>
            <a:srgbClr val="8A9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21408"/>
            <a:ext cx="2624328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思源黑体"/>
                <a:ea typeface="思源黑体"/>
              </a:rPr>
              <a:t>步骤名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15184"/>
            <a:ext cx="2624328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AF0F7"/>
                </a:solidFill>
                <a:latin typeface="思源黑体"/>
                <a:ea typeface="思源黑体"/>
              </a:rPr>
              <a:t>步骤说明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2121408"/>
            <a:ext cx="2624328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思源黑体"/>
                <a:ea typeface="思源黑体"/>
              </a:rPr>
              <a:t>步骤名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615184"/>
            <a:ext cx="2624328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AF0F7"/>
                </a:solidFill>
                <a:latin typeface="思源黑体"/>
                <a:ea typeface="思源黑体"/>
              </a:rPr>
              <a:t>步骤说明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2121408"/>
            <a:ext cx="2624328" cy="40233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思源黑体"/>
                <a:ea typeface="思源黑体"/>
              </a:rPr>
              <a:t>步骤名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615184"/>
            <a:ext cx="2624328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EAF0F7"/>
                </a:solidFill>
                <a:latin typeface="思源黑体"/>
                <a:ea typeface="思源黑体"/>
              </a:rPr>
              <a:t>步骤说明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13632"/>
            <a:ext cx="10908792" cy="1234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1033272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补充说明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413248"/>
            <a:ext cx="10908792" cy="36576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532120"/>
            <a:ext cx="10908792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8A93A0"/>
                </a:solidFill>
                <a:latin typeface="思源黑体"/>
                <a:ea typeface="思源黑体"/>
              </a:rPr>
              <a:t>页脚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3017520"/>
            <a:ext cx="9784080" cy="41148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2708" y="2944368"/>
            <a:ext cx="192024" cy="192024"/>
          </a:xfrm>
          <a:prstGeom prst="ellipse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72768"/>
            <a:ext cx="1508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年份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思源黑体"/>
                <a:ea typeface="思源黑体"/>
              </a:rPr>
              <a:t>节点名称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04288"/>
            <a:ext cx="150876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节点说明</a:t>
            </a:r>
          </a:p>
        </p:txBody>
      </p:sp>
      <p:sp>
        <p:nvSpPr>
          <p:cNvPr id="10" name="Oval 9"/>
          <p:cNvSpPr/>
          <p:nvPr/>
        </p:nvSpPr>
        <p:spPr>
          <a:xfrm>
            <a:off x="3538727" y="2944368"/>
            <a:ext cx="192024" cy="192024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3299" y="3127248"/>
            <a:ext cx="1508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年份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3299" y="3474720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思源黑体"/>
                <a:ea typeface="思源黑体"/>
              </a:rPr>
              <a:t>节点名称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3299" y="3858768"/>
            <a:ext cx="150876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节点说明</a:t>
            </a:r>
          </a:p>
        </p:txBody>
      </p:sp>
      <p:sp>
        <p:nvSpPr>
          <p:cNvPr id="14" name="Oval 13"/>
          <p:cNvSpPr/>
          <p:nvPr/>
        </p:nvSpPr>
        <p:spPr>
          <a:xfrm>
            <a:off x="5984747" y="2944368"/>
            <a:ext cx="192024" cy="192024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572768"/>
            <a:ext cx="1508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年份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20240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思源黑体"/>
                <a:ea typeface="思源黑体"/>
              </a:rPr>
              <a:t>节点名称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304288"/>
            <a:ext cx="150876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节点说明</a:t>
            </a:r>
          </a:p>
        </p:txBody>
      </p:sp>
      <p:sp>
        <p:nvSpPr>
          <p:cNvPr id="18" name="Oval 17"/>
          <p:cNvSpPr/>
          <p:nvPr/>
        </p:nvSpPr>
        <p:spPr>
          <a:xfrm>
            <a:off x="8430767" y="2944368"/>
            <a:ext cx="192024" cy="192024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5340" y="3127248"/>
            <a:ext cx="1508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年份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5340" y="3474720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思源黑体"/>
                <a:ea typeface="思源黑体"/>
              </a:rPr>
              <a:t>节点名称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5340" y="3858768"/>
            <a:ext cx="150876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节点说明</a:t>
            </a:r>
          </a:p>
        </p:txBody>
      </p:sp>
      <p:sp>
        <p:nvSpPr>
          <p:cNvPr id="22" name="Oval 21"/>
          <p:cNvSpPr/>
          <p:nvPr/>
        </p:nvSpPr>
        <p:spPr>
          <a:xfrm>
            <a:off x="10876788" y="2944368"/>
            <a:ext cx="192024" cy="192024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19" y="1572768"/>
            <a:ext cx="1508760" cy="310896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1E3A5F"/>
                </a:solidFill>
                <a:latin typeface="思源黑体"/>
                <a:ea typeface="思源黑体"/>
              </a:rPr>
              <a:t>年份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19" y="1920240"/>
            <a:ext cx="15087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600" b="1">
                <a:solidFill>
                  <a:srgbClr val="2E6DA4"/>
                </a:solidFill>
                <a:latin typeface="思源黑体"/>
                <a:ea typeface="思源黑体"/>
              </a:rPr>
              <a:t>节点名称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19" y="2304288"/>
            <a:ext cx="150876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节点说明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074920"/>
            <a:ext cx="10908792" cy="1051560"/>
          </a:xfrm>
          <a:prstGeom prst="roundRect">
            <a:avLst>
              <a:gd name="adj" fmla="val 7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257800"/>
            <a:ext cx="103327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底部小结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758952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965960"/>
            <a:ext cx="2971800" cy="11430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3960" y="2057400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要点标题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23960" y="2441448"/>
            <a:ext cx="2560320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要点说明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291839"/>
            <a:ext cx="2971800" cy="11430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3383279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要点标题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767327"/>
            <a:ext cx="2560320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要点说明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4617720"/>
            <a:ext cx="2971800" cy="1143000"/>
          </a:xfrm>
          <a:prstGeom prst="roundRect">
            <a:avLst>
              <a:gd name="adj" fmla="val 9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4709159"/>
            <a:ext cx="25603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要点标题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093208"/>
            <a:ext cx="2560320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要点说明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77240" y="1783080"/>
          <a:ext cx="106070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02920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51206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结论标题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5468112"/>
            <a:ext cx="30175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结论说明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502920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51206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结论标题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5468112"/>
            <a:ext cx="30175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结论说明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5029200"/>
            <a:ext cx="3429000" cy="1234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5120640"/>
            <a:ext cx="3017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结论标题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608" y="5468112"/>
            <a:ext cx="301752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3C4552"/>
                </a:solidFill>
                <a:latin typeface="思源黑体"/>
                <a:ea typeface="思源黑体"/>
              </a:rPr>
              <a:t>结论说明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88336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88336" cy="91440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1031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思源黑体"/>
                <a:ea typeface="思源黑体"/>
              </a:rPr>
              <a:t>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971800"/>
            <a:ext cx="2286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思源黑体"/>
                <a:ea typeface="思源黑体"/>
              </a:rPr>
              <a:t>指标名称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383280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8A93A0"/>
                </a:solidFill>
                <a:latin typeface="思源黑体"/>
                <a:ea typeface="思源黑体"/>
              </a:rPr>
              <a:t>口径说明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9584" y="1828800"/>
            <a:ext cx="2688336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29584" y="1828800"/>
            <a:ext cx="2688336" cy="91440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1031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思源黑体"/>
                <a:ea typeface="思源黑体"/>
              </a:rPr>
              <a:t>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971800"/>
            <a:ext cx="2286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思源黑体"/>
                <a:ea typeface="思源黑体"/>
              </a:rPr>
              <a:t>指标名称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383280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8A93A0"/>
                </a:solidFill>
                <a:latin typeface="思源黑体"/>
                <a:ea typeface="思源黑体"/>
              </a:rPr>
              <a:t>口径说明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19088" y="1828800"/>
            <a:ext cx="2688336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19088" y="1828800"/>
            <a:ext cx="2688336" cy="91440"/>
          </a:xfrm>
          <a:prstGeom prst="roundRect">
            <a:avLst>
              <a:gd name="adj" fmla="val 50000"/>
            </a:avLst>
          </a:prstGeom>
          <a:solidFill>
            <a:srgbClr val="6B8C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8544" y="21031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思源黑体"/>
                <a:ea typeface="思源黑体"/>
              </a:rPr>
              <a:t>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8544" y="2971800"/>
            <a:ext cx="2286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思源黑体"/>
                <a:ea typeface="思源黑体"/>
              </a:rPr>
              <a:t>指标名称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38544" y="3383280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8A93A0"/>
                </a:solidFill>
                <a:latin typeface="思源黑体"/>
                <a:ea typeface="思源黑体"/>
              </a:rPr>
              <a:t>口径说明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8592" y="1828800"/>
            <a:ext cx="2688336" cy="18288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08592" y="1828800"/>
            <a:ext cx="2688336" cy="91440"/>
          </a:xfrm>
          <a:prstGeom prst="roundRect">
            <a:avLst>
              <a:gd name="adj" fmla="val 50000"/>
            </a:avLst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2103120"/>
            <a:ext cx="228600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4000" b="1">
                <a:solidFill>
                  <a:srgbClr val="1E3A5F"/>
                </a:solidFill>
                <a:latin typeface="思源黑体"/>
                <a:ea typeface="思源黑体"/>
              </a:rPr>
              <a:t>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971800"/>
            <a:ext cx="22860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400" b="1">
                <a:solidFill>
                  <a:srgbClr val="2E6DA4"/>
                </a:solidFill>
                <a:latin typeface="思源黑体"/>
                <a:ea typeface="思源黑体"/>
              </a:rPr>
              <a:t>指标名称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3383280"/>
            <a:ext cx="22860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200" b="0">
                <a:solidFill>
                  <a:srgbClr val="8A93A0"/>
                </a:solidFill>
                <a:latin typeface="思源黑体"/>
                <a:ea typeface="思源黑体"/>
              </a:rPr>
              <a:t>口径说明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31920"/>
            <a:ext cx="3172968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114800"/>
            <a:ext cx="2651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解读标题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" y="4572000"/>
            <a:ext cx="26517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解读正文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07992" y="3931920"/>
            <a:ext cx="3172968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64024" y="4114800"/>
            <a:ext cx="2651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解读标题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64024" y="4572000"/>
            <a:ext cx="26517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解读正文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75904" y="3931920"/>
            <a:ext cx="3172968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31936" y="4114800"/>
            <a:ext cx="2651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解读标题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31936" y="4572000"/>
            <a:ext cx="265176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3C4552"/>
                </a:solidFill>
                <a:latin typeface="思源黑体"/>
                <a:ea typeface="思源黑体"/>
              </a:rPr>
              <a:t>解读正文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917936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4952"/>
                <a:gridCol w="2624328"/>
                <a:gridCol w="2624328"/>
                <a:gridCol w="2624328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思源黑体"/>
                          <a:ea typeface="思源黑体"/>
                        </a:rPr>
                        <a:t>表头1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思源黑体"/>
                          <a:ea typeface="思源黑体"/>
                        </a:rPr>
                        <a:t>表头2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思源黑体"/>
                          <a:ea typeface="思源黑体"/>
                        </a:rPr>
                        <a:t>表头3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思源黑体"/>
                          <a:ea typeface="思源黑体"/>
                        </a:rPr>
                        <a:t>表头4</a:t>
                      </a:r>
                    </a:p>
                  </a:txBody>
                  <a:tcPr marL="73152" marR="73152" anchor="ctr">
                    <a:solidFill>
                      <a:srgbClr val="1E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项目2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项目3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项目4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项目5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2F4F7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项目6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3C4552"/>
                          </a:solidFill>
                          <a:latin typeface="思源黑体"/>
                          <a:ea typeface="思源黑体"/>
                        </a:rPr>
                        <a:t>内容</a:t>
                      </a:r>
                    </a:p>
                  </a:txBody>
                  <a:tcPr marL="73152" marR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89611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46304" cy="896112"/>
          </a:xfrm>
          <a:prstGeom prst="roundRect">
            <a:avLst>
              <a:gd name="adj" fmla="val 35000"/>
            </a:avLst>
          </a:prstGeom>
          <a:solidFill>
            <a:srgbClr val="21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292608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层级名称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783080"/>
            <a:ext cx="722376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层级说明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07208"/>
            <a:ext cx="1090879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807208"/>
            <a:ext cx="146304" cy="896112"/>
          </a:xfrm>
          <a:prstGeom prst="roundRect">
            <a:avLst>
              <a:gd name="adj" fmla="val 35000"/>
            </a:avLst>
          </a:prstGeom>
          <a:solidFill>
            <a:srgbClr val="2E56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807208"/>
            <a:ext cx="292608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层级名称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807208"/>
            <a:ext cx="722376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层级说明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31336"/>
            <a:ext cx="10908792" cy="896112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3831336"/>
            <a:ext cx="146304" cy="896112"/>
          </a:xfrm>
          <a:prstGeom prst="roundRect">
            <a:avLst>
              <a:gd name="adj" fmla="val 35000"/>
            </a:avLst>
          </a:prstGeom>
          <a:solidFill>
            <a:srgbClr val="3F7B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31336"/>
            <a:ext cx="292608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层级名称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3831336"/>
            <a:ext cx="722376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层级说明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855464"/>
            <a:ext cx="10908792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4855464"/>
            <a:ext cx="146304" cy="896112"/>
          </a:xfrm>
          <a:prstGeom prst="roundRect">
            <a:avLst>
              <a:gd name="adj" fmla="val 35000"/>
            </a:avLst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55464"/>
            <a:ext cx="292608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800" b="1">
                <a:solidFill>
                  <a:srgbClr val="1E3A5F"/>
                </a:solidFill>
                <a:latin typeface="思源黑体"/>
                <a:ea typeface="思源黑体"/>
              </a:rPr>
              <a:t>层级名称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855464"/>
            <a:ext cx="7223760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C4552"/>
                </a:solidFill>
                <a:latin typeface="思源黑体"/>
                <a:ea typeface="思源黑体"/>
              </a:rPr>
              <a:t>层级说明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2800" b="1">
                <a:solidFill>
                  <a:srgbClr val="1E3A5F"/>
                </a:solidFill>
                <a:latin typeface="思源黑体"/>
                <a:ea typeface="思源黑体"/>
              </a:rPr>
              <a:t>页面标题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78992"/>
            <a:ext cx="640080" cy="54864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8813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/>
            <a:r>
              <a:rPr sz="1300" b="0">
                <a:solidFill>
                  <a:srgbClr val="8A93A0"/>
                </a:solidFill>
                <a:latin typeface="思源黑体"/>
                <a:ea typeface="思源黑体"/>
              </a:rPr>
              <a:t>导语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7451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74519"/>
            <a:ext cx="49377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  <a:ea typeface="思源黑体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83080"/>
            <a:ext cx="996696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清单条目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32888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624328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624328"/>
            <a:ext cx="49377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  <a:ea typeface="思源黑体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32888"/>
            <a:ext cx="996696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清单条目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282696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374136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374136"/>
            <a:ext cx="49377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  <a:ea typeface="思源黑体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282696"/>
            <a:ext cx="996696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清单条目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32504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123944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123944"/>
            <a:ext cx="49377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  <a:ea typeface="思源黑体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032504"/>
            <a:ext cx="996696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清单条目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782312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4873751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873751"/>
            <a:ext cx="49377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  <a:ea typeface="思源黑体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782312"/>
            <a:ext cx="996696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清单条目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532120"/>
            <a:ext cx="1090879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5623559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5623559"/>
            <a:ext cx="493776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思源黑体"/>
                <a:ea typeface="思源黑体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532120"/>
            <a:ext cx="996696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noAutofit/>
          </a:bodyPr>
          <a:lstStyle/>
          <a:p>
            <a:pPr algn="l"/>
            <a:r>
              <a:rPr sz="1500" b="0">
                <a:solidFill>
                  <a:srgbClr val="3C4552"/>
                </a:solidFill>
                <a:latin typeface="思源黑体"/>
                <a:ea typeface="思源黑体"/>
              </a:rPr>
              <a:t>清单条目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53328" y="3310128"/>
            <a:ext cx="640080" cy="64008"/>
          </a:xfrm>
          <a:prstGeom prst="rect">
            <a:avLst/>
          </a:prstGeom>
          <a:solidFill>
            <a:srgbClr val="A52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377440"/>
            <a:ext cx="10908792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思源黑体"/>
                <a:ea typeface="思源黑体"/>
              </a:rPr>
              <a:t>结尾主标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20440"/>
            <a:ext cx="10908792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/>
            <a:r>
              <a:rPr sz="2200" b="0">
                <a:solidFill>
                  <a:srgbClr val="B9C4D2"/>
                </a:solidFill>
                <a:latin typeface="思源黑体"/>
                <a:ea typeface="思源黑体"/>
              </a:rPr>
              <a:t>结尾副标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46320"/>
            <a:ext cx="1090879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/>
            <a:r>
              <a:rPr sz="1400" b="0">
                <a:solidFill>
                  <a:srgbClr val="8FA3BC"/>
                </a:solidFill>
                <a:latin typeface="思源黑体"/>
                <a:ea typeface="思源黑体"/>
              </a:rPr>
              <a:t>联系方式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/>
            <a:r>
              <a:rPr sz="1200" b="0">
                <a:solidFill>
                  <a:srgbClr val="6E819A"/>
                </a:solidFill>
                <a:latin typeface="思源黑体"/>
                <a:ea typeface="思源黑体"/>
              </a:rPr>
              <a:t>页脚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